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612" y="2852737"/>
            <a:ext cx="476250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37" y="2962275"/>
            <a:ext cx="41910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37" y="3800475"/>
            <a:ext cx="41910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187" y="4086225"/>
            <a:ext cx="4191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37" y="3800475"/>
            <a:ext cx="41910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37" y="2962275"/>
            <a:ext cx="4191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187" y="2562225"/>
            <a:ext cx="4191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887" y="2643187"/>
            <a:ext cx="1409700" cy="1571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1952625"/>
            <a:ext cx="5590698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5400" i="0" u="none">
                <a:solidFill>
                  <a:srgbClr val="FFFFFF"/>
                </a:solidFill>
                <a:latin typeface="Space Grotesk"/>
              </a:rPr>
              <a:t>Model Context Protocol (MCP)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990975"/>
            <a:ext cx="5324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มาตรฐานแบบเปิด (Open Standard) ที่ช่วยให้แอปพลิเคชัน AI สามารถเชื่อมต่อกับระบบภายนอก เช่น แหล่งข้อมูลองค์กร แอปพลิเคชันทางธุรกิจ ฐานข้อมูล API และเครื่องมือ Automation ได้อย่างปลอดภัย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3437" y="3805237"/>
            <a:ext cx="990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Space Grotesk SemiBold"/>
              </a:rPr>
              <a:t>AI Application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887" y="2157412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67537" y="2614612"/>
            <a:ext cx="628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5C6C7"/>
                </a:solidFill>
                <a:latin typeface="Space Grotesk Medium"/>
              </a:rPr>
              <a:t>Web APIs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700" y="4300537"/>
            <a:ext cx="314325" cy="36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96125" y="4757737"/>
            <a:ext cx="371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5C6C7"/>
                </a:solidFill>
                <a:latin typeface="Space Grotesk Medium"/>
              </a:rPr>
              <a:t>Slack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3950" y="5014912"/>
            <a:ext cx="409575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7712" y="5472112"/>
            <a:ext cx="11620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5C6C7"/>
                </a:solidFill>
                <a:latin typeface="Space Grotesk Medium"/>
              </a:rPr>
              <a:t>Local Filesystem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4637" y="4300537"/>
            <a:ext cx="361950" cy="3619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25112" y="4757737"/>
            <a:ext cx="381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5C6C7"/>
                </a:solidFill>
                <a:latin typeface="Space Grotesk Medium"/>
              </a:rPr>
              <a:t>Gmail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9400" y="2157412"/>
            <a:ext cx="352425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77487" y="2614612"/>
            <a:ext cx="476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5C6C7"/>
                </a:solidFill>
                <a:latin typeface="Space Grotesk Medium"/>
              </a:rPr>
              <a:t>GitHub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1575" y="1204912"/>
            <a:ext cx="314325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10600" y="1662112"/>
            <a:ext cx="6762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5C6C7"/>
                </a:solidFill>
                <a:latin typeface="Space Grotesk Medium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3962" y="3133725"/>
            <a:ext cx="2095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/>
            </a:pPr>
            <a:r>
              <a:rPr b="1" sz="1650" i="0" u="none">
                <a:solidFill>
                  <a:srgbClr val="FF6B00"/>
                </a:solidFill>
                <a:latin typeface="sans-serif"/>
              </a:rPr>
              <a:t>AI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487" y="104775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2095500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867025"/>
            <a:ext cx="762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2581275"/>
            <a:ext cx="1333500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3219450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393382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4648200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2524125"/>
            <a:ext cx="5086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MCP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(Model Context Protocol) คือมาตรฐานแบบเปิด (Open Standard) ที่เพิ่งเปิดตัวโดย Anthropic (Nov 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371850"/>
            <a:ext cx="5086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หน้าที่หลัก: ช่วยแก้ปัญหาที่แต่ละ AI application ต้องพัฒนา integration แบบเฉพาะเจาะจงสำหรับทุกระบบที่ต้องการเชื่อมต่อ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267200"/>
            <a:ext cx="53406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66FCF1"/>
                </a:solidFill>
                <a:latin typeface="Space Grotesk"/>
              </a:rPr>
              <a:t>เปรียบเสมือน "USB-C สำหรับ AI"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67275"/>
            <a:ext cx="50863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ทำให้ AI client สามารถเชื่อมต่อกับบริการต่างๆ ผ่านรูปแบบการสื่อสารเดียวกัน เสียบปุ๊บ คุยกันรู้เรื่องปั๊บ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0700" y="3714750"/>
            <a:ext cx="3429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6850" y="3171825"/>
            <a:ext cx="57150" cy="2857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86850" y="3886200"/>
            <a:ext cx="57150" cy="2857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86850" y="4600575"/>
            <a:ext cx="57150" cy="2857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48850" y="3471862"/>
            <a:ext cx="381000" cy="11430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29850" y="3405187"/>
            <a:ext cx="114300" cy="247650"/>
          </a:xfrm>
          <a:prstGeom prst="roundRect">
            <a:avLst>
              <a:gd name="adj" fmla="val 33333"/>
            </a:avLst>
          </a:prstGeom>
          <a:solidFill>
            <a:srgbClr val="8B929A"/>
          </a:solidFill>
          <a:ln w="19050">
            <a:solidFill>
              <a:srgbClr val="66F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58450" y="3362325"/>
            <a:ext cx="57150" cy="33337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458450" y="4314825"/>
            <a:ext cx="57150" cy="33337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8050" y="3652837"/>
            <a:ext cx="295275" cy="752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Space Grotesk"/>
              </a:rPr>
              <a:t>Client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8025" y="3267075"/>
            <a:ext cx="1666875" cy="57150"/>
          </a:xfrm>
          <a:prstGeom prst="rect">
            <a:avLst/>
          </a:prstGeom>
          <a:solidFill>
            <a:srgbClr val="44444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8025" y="3981450"/>
            <a:ext cx="1666875" cy="57150"/>
          </a:xfrm>
          <a:prstGeom prst="rect">
            <a:avLst/>
          </a:prstGeom>
          <a:solidFill>
            <a:srgbClr val="44444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58025" y="4695825"/>
            <a:ext cx="1666875" cy="57150"/>
          </a:xfrm>
          <a:prstGeom prst="rect">
            <a:avLst/>
          </a:prstGeom>
          <a:solidFill>
            <a:srgbClr val="44444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8450" y="3181350"/>
            <a:ext cx="200025" cy="2286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915400" y="32480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C0C0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162" y="3895725"/>
            <a:ext cx="228600" cy="2286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15400" y="39624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C0C0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4610100"/>
            <a:ext cx="200025" cy="2286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915400" y="46767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0C0C0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ภาพรวมของ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MCP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081337"/>
            <a:ext cx="428625" cy="4286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795712"/>
            <a:ext cx="428625" cy="4286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4510087"/>
            <a:ext cx="42862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1868983"/>
            <a:ext cx="8572500" cy="1182885"/>
          </a:xfrm>
          <a:prstGeom prst="roundRect">
            <a:avLst>
              <a:gd name="adj" fmla="val 6441"/>
            </a:avLst>
          </a:prstGeom>
          <a:solidFill>
            <a:srgbClr val="0B0C10"/>
          </a:solidFill>
          <a:ln w="9525">
            <a:solidFill>
              <a:srgbClr val="1F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71750" y="2107108"/>
            <a:ext cx="7572375" cy="706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pace Grotesk"/>
              </a:rPr>
              <a:t>ลดความซ้ำซ้อน (Build Once, Run Anywhere)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พัฒนาระบบเชื่อมต่อเพียงครั้งเดียว และนำไปใช้กับ AI Client รุ่นใดก็ได้ที่รองรับ MCP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9750" y="3289994"/>
            <a:ext cx="8572500" cy="1182885"/>
          </a:xfrm>
          <a:prstGeom prst="roundRect">
            <a:avLst>
              <a:gd name="adj" fmla="val 6441"/>
            </a:avLst>
          </a:prstGeom>
          <a:solidFill>
            <a:srgbClr val="0B0C10"/>
          </a:solidFill>
          <a:ln w="9525">
            <a:solidFill>
              <a:srgbClr val="1F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71750" y="3528119"/>
            <a:ext cx="7572375" cy="706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pace Grotesk"/>
              </a:rPr>
              <a:t>การเข้าถึงที่มีการควบคุม (Governed Access)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ทำให้ AI assistant สามารถเข้าถึงข้อมูลและดำเนินการกับระบบธุรกิจได้อย่างมีการควบคุม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9750" y="4711005"/>
            <a:ext cx="8572500" cy="1182885"/>
          </a:xfrm>
          <a:prstGeom prst="roundRect">
            <a:avLst>
              <a:gd name="adj" fmla="val 6441"/>
            </a:avLst>
          </a:prstGeom>
          <a:solidFill>
            <a:srgbClr val="0B0C10"/>
          </a:solidFill>
          <a:ln w="9525">
            <a:solidFill>
              <a:srgbClr val="1F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1750" y="4949130"/>
            <a:ext cx="7572375" cy="706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pace Grotesk"/>
              </a:rPr>
              <a:t>เพิ่มบริบทและประสิทธิภาพ (Context-Aware)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ทำให้ AI application มีข้อมูลบริบทที่เกี่ยวข้องมากขึ้น และสามารถช่วยทำงานจริงได้มากขึ้น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9750" y="3042344"/>
            <a:ext cx="857250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9750" y="4463355"/>
            <a:ext cx="857250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9750" y="5884366"/>
            <a:ext cx="857250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11871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532882"/>
            <a:ext cx="23812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953892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เหตุผลที่สร้าง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MCP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1212"/>
            <a:ext cx="3486150" cy="383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81212"/>
            <a:ext cx="3486150" cy="3838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81212"/>
            <a:ext cx="3486150" cy="383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214687"/>
            <a:ext cx="185023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1. Host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00462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Host: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แอปพลิเคชัน AI ตัวหลัก (เช่น Claude Desktop, ChatGPT, IDE)</a:t>
            </a:r>
            <a:r>
              <a:t>
</a:t>
            </a:r>
            <a:r>
              <a:t>
</a:t>
            </a:r>
            <a:r>
              <a:rPr b="0" sz="1500" i="0" u="none">
                <a:solidFill>
                  <a:srgbClr val="C5C6C7"/>
                </a:solidFill>
                <a:latin typeface="Space Grotesk"/>
              </a:rPr>
              <a:t>Client: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ระบบย่อยใน Host ที่จัดการการเชื่อมต่อกับ MCP Server และควบคุมสิทธิ์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214687"/>
            <a:ext cx="177522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2. 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700462"/>
            <a:ext cx="28956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บริการที่เปิดเผยความสามารถให้ AI application เรียกใช้งาน สื่อสารผ่าน </a:t>
            </a:r>
            <a:r>
              <a:rPr b="0" sz="1500" i="0" u="none">
                <a:solidFill>
                  <a:srgbClr val="C5C6C7"/>
                </a:solidFill>
                <a:latin typeface="Space Grotesk"/>
              </a:rPr>
              <a:t>JSON-RPC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(รองรับทั้ง Local และ Remote)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214687"/>
            <a:ext cx="2565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3. External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700462"/>
            <a:ext cx="28956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เป้าหมายปลายทางที่แท้จริง เช่น Enterprise API, ฐานข้อมูลองค์กร หรือระบบ Automation ที่ถูกเรียกใช้ผ่าน MCP Server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509837"/>
            <a:ext cx="44767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509837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509837"/>
            <a:ext cx="352425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สถาปัตยกรรม (Host–Client–Server)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76487"/>
            <a:ext cx="3486150" cy="383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76487"/>
            <a:ext cx="3486150" cy="3838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76487"/>
            <a:ext cx="3486150" cy="383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785937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8B929A"/>
                </a:solidFill>
                <a:latin typeface="Space Grotesk Light"/>
              </a:rPr>
              <a:t>MCP Server สามารถเปิดเผยความสามารถหลักได้ 3 ประเภท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09962"/>
            <a:ext cx="66508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95737"/>
            <a:ext cx="2895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คืออะไร: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คำสั่งหรือการดำเนินการที่ AI สามารถร้องขอได้</a:t>
            </a:r>
            <a:r>
              <a:t>
</a:t>
            </a:r>
            <a:r>
              <a:t>
</a:t>
            </a:r>
            <a:r>
              <a:rPr b="0" sz="1500" i="0" u="none">
                <a:solidFill>
                  <a:srgbClr val="C5C6C7"/>
                </a:solidFill>
                <a:latin typeface="Space Grotesk"/>
              </a:rPr>
              <a:t>ตัวอย่าง: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สร้าง Ticket, ค้นหาข้อมูลในฐานข้อมูล หรือเรียกใช้ Internal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509962"/>
            <a:ext cx="135516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995737"/>
            <a:ext cx="28956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คืออะไร: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ข้อมูลบริบท (Read-only)</a:t>
            </a:r>
            <a:r>
              <a:t>
</a:t>
            </a:r>
            <a:r>
              <a:t>
</a:t>
            </a:r>
            <a:r>
              <a:rPr b="0" sz="1500" i="0" u="none">
                <a:solidFill>
                  <a:srgbClr val="C5C6C7"/>
                </a:solidFill>
                <a:latin typeface="Space Grotesk"/>
              </a:rPr>
              <a:t>ตัวอย่าง: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เอกสาร, ไฟล์, ข้อมูลรายการ, หรือข้อมูลจากฐานข้อมูล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509962"/>
            <a:ext cx="110513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0100" y="3995737"/>
            <a:ext cx="289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คืออะไร: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Template คำสั่งที่จัดเตรียมไว้</a:t>
            </a:r>
            <a:r>
              <a:t>
</a:t>
            </a:r>
            <a:r>
              <a:t>
</a:t>
            </a:r>
            <a:r>
              <a:rPr b="0" sz="1500" i="0" u="none">
                <a:solidFill>
                  <a:srgbClr val="C5C6C7"/>
                </a:solidFill>
                <a:latin typeface="Space Grotesk"/>
              </a:rPr>
              <a:t>ตัวอย่าง: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Prompt template หรือ workflow ที่กำหนดไว้ล่วงหน้าเพื่อช่วยให้ AI ทำงานอย่างเป็นขั้นตอน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805112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805112"/>
            <a:ext cx="304800" cy="400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805112"/>
            <a:ext cx="400050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ความสามารถของ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MCP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28861"/>
            <a:ext cx="5372100" cy="45014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28861"/>
            <a:ext cx="5372100" cy="45014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3714750"/>
            <a:ext cx="5715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916066"/>
            <a:ext cx="11029950" cy="956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50" y="2271861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pace Grotesk SemiBold"/>
              </a:rPr>
              <a:t>วัตถุประสงค์หลัก: "Integration ระหว่าง Application"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19461"/>
            <a:ext cx="4591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pace Grotesk SemiBold"/>
              </a:rPr>
              <a:t>วัตถุประสงค์หลัก: "Integration ระหว่าง AI กับระบบภายนอก"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1719411"/>
            <a:ext cx="4286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43050" y="1700361"/>
            <a:ext cx="125015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A90E2"/>
                </a:solidFill>
                <a:latin typeface="Space Grotesk"/>
              </a:rP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919561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90E2"/>
                </a:solidFill>
                <a:latin typeface="Space Grotesk"/>
              </a:rPr>
              <a:t>ผู้ใช้งานหลัก: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Application และ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367236"/>
            <a:ext cx="4591050" cy="6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90E2"/>
                </a:solidFill>
                <a:latin typeface="Space Grotesk"/>
              </a:rPr>
              <a:t>รูปแบบ: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Endpoint ที่กำหนดตายตัว</a:t>
            </a:r>
            <a:r>
              <a:t>
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GET /customers/123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4182516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90E2"/>
                </a:solidFill>
                <a:latin typeface="Space Grotesk"/>
              </a:rPr>
              <a:t>AI Context: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ไม่ได้ออกแบบมาโดยเฉพาะ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630191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90E2"/>
                </a:solidFill>
                <a:latin typeface="Space Grotesk"/>
              </a:rPr>
              <a:t>ความสัมพันธ์: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ใช้งานได้อย่างอิสระ (Core Integration)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1567011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15175" y="1547961"/>
            <a:ext cx="66508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66FCF1"/>
                </a:solidFill>
                <a:latin typeface="Space Grotesk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71961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66FCF1"/>
                </a:solidFill>
                <a:latin typeface="Space Grotesk"/>
              </a:rPr>
              <a:t>ผู้ใช้งานหลัก: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AI Host, Assistant และ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519636"/>
            <a:ext cx="4591050" cy="672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66FCF1"/>
                </a:solidFill>
                <a:latin typeface="Space Grotesk"/>
              </a:rPr>
              <a:t>รูปแบบ: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Tool, Resource, Prompt ที่ค้นหาได้</a:t>
            </a:r>
            <a:r>
              <a:t>
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get_customer(id)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334916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66FCF1"/>
                </a:solidFill>
                <a:latin typeface="Space Grotesk"/>
              </a:rPr>
              <a:t>AI Context: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ออกแบบเพื่อแลกเปลี่ยน Context กับ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782591"/>
            <a:ext cx="4591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66FCF1"/>
                </a:solidFill>
                <a:latin typeface="Space Grotesk"/>
              </a:rPr>
              <a:t>ความสัมพันธ์: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มักเรียกใช้หรือครอบ REST API อยู่ภายใน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-14138"/>
            <a:ext cx="1158144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ความต่างที่ชัดเจน: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REST API vs MCP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738336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14512"/>
            <a:ext cx="5276850" cy="437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14512"/>
            <a:ext cx="5276850" cy="437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100262"/>
            <a:ext cx="4900612" cy="409575"/>
          </a:xfrm>
          <a:prstGeom prst="rect">
            <a:avLst/>
          </a:prstGeom>
          <a:noFill/>
        </p:spPr>
        <p:txBody>
          <a:bodyPr wrap="square" lIns="357187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Space Grotesk"/>
              </a:rPr>
              <a:t>กรณีที่เหมาะสม (Good Use Cases)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7975" y="2100262"/>
            <a:ext cx="4900612" cy="409575"/>
          </a:xfrm>
          <a:prstGeom prst="rect">
            <a:avLst/>
          </a:prstGeom>
          <a:noFill/>
        </p:spPr>
        <p:txBody>
          <a:bodyPr wrap="square" lIns="357187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Space Grotesk"/>
              </a:rPr>
              <a:t>กรณีที่ไม่จำเป็น (Not Necessary)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157412"/>
            <a:ext cx="2619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27003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7003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เชื่อมต่อ AI กับข้อมูลองค์กร: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ดึงข้อมูลจากฐานข้อมูล, CRM, 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3099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3099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ให้ AI ดำเนินการกับระบบ: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สร้าง Ticket, ส่งข้อความ, Trigger workflow ภายใต้สิทธิ์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9195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9195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สร้าง AI Integration ที่ใช้ซ้ำได้: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ใช้ได้ทั้ง Claude, ChatGPT, 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5291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5291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สร้าง AI Agent และ Workflow: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งานที่ AI ต้องเรียกใช้หลายเครื่องมือต่อเนื่องกัน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51387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51387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เข้าถึงข้อมูล Real-time: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สถานะโครงการ, สินค้าคงคลัง, Operational Metrics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2157412"/>
            <a:ext cx="261937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81800" y="27003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475" y="27003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เชื่อมต่อ API แบบง่ายและตายตัว: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Backend คุยกับ Backend ไม่เกี่ยวอะไรกับ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33099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33099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ไม่มี AI model เกี่ยวข้อง: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ไม่ต้องการให้ AI ค้นหาหรือเลือกใช้เครื่องมือ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3919537"/>
            <a:ext cx="6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5C6C7"/>
                </a:solidFill>
                <a:latin typeface="Space Grotesk Light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475" y="3919537"/>
            <a:ext cx="4476750" cy="60960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ข้อมูลเป็นข้อมูลคงที่ (Static):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สามารถใส่ไว้ใน application หรือ prompt ได้โดยตรง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ควรใช้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MCP</a:t>
            </a:r>
            <a:r>
              <a:rPr b="1" sz="3150" i="0" u="none">
                <a:solidFill>
                  <a:srgbClr val="FFFFFF"/>
                </a:solidFill>
                <a:latin typeface="Space Grotesk"/>
              </a:rPr>
              <a:t> ตอนไหน?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41265"/>
            <a:ext cx="762000" cy="38100"/>
          </a:xfrm>
          <a:prstGeom prst="rect">
            <a:avLst/>
          </a:prstGeom>
          <a:solidFill>
            <a:srgbClr val="66F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403" y="3065115"/>
            <a:ext cx="9541192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Space Grotesk"/>
              </a:rPr>
              <a:t>Implementation Code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2575" y="4036665"/>
            <a:ext cx="90868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8B929A"/>
                </a:solidFill>
                <a:latin typeface="Space Grotesk Light"/>
              </a:rPr>
              <a:t>book-api → book-mcp-sv → 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19312"/>
            <a:ext cx="5276850" cy="3657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19312"/>
            <a:ext cx="5276850" cy="3657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309812"/>
            <a:ext cx="4895850" cy="3276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3024187"/>
            <a:ext cx="472059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REST API (Core Service)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509962"/>
            <a:ext cx="4495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ระบบ API หลังบ้านภายในองค์กร ที่จัดการ Business Logic ดั้งเดิม โดยไม่มีส่วนเกี่ยวข้องกับ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262437"/>
            <a:ext cx="4495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IT Hardening: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จำกัด Network Firewall ไม่อนุญาตให้ AI เข้าถึงตรงๆ ให้เรียกได้เฉพาะจากเครื่อง MCP Server เท่านั้น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1. Data Layer: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book-api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05012"/>
            <a:ext cx="3682751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026" y="2005012"/>
            <a:ext cx="6870948" cy="388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0526" y="2366962"/>
            <a:ext cx="6489948" cy="3162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2395537"/>
            <a:ext cx="30467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MCP Server (Integration 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224212"/>
            <a:ext cx="290170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ตัวกลางที่แปลง REST API ให้กลายเป็น 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Tools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ให้ AI รู้จัก และรับคำสั่งจาก AI มายิง API ต่อ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281487"/>
            <a:ext cx="2901701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IT Hardening: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เป็นจุดคัดกรอง (Sanitization Boundary) ตรวจสอบ Parameter และควบคุมสิทธิ์ก่อนส่งคำสั่งไปแตะ Core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2. Protocol Layer: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book-mcp-sv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1662"/>
            <a:ext cx="3083718" cy="415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993" y="1871662"/>
            <a:ext cx="7469981" cy="415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493" y="2281237"/>
            <a:ext cx="7088981" cy="3333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2262187"/>
            <a:ext cx="241780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6FCF1"/>
                </a:solidFill>
                <a:latin typeface="Space Grotesk"/>
              </a:rPr>
              <a:t>AI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747962"/>
            <a:ext cx="2302668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 Light"/>
              </a:rPr>
              <a:t>แอปพลิเคชันฝั่ง Client เชื่อมต่อผ่าน Standard I/O (Stdio) หรือ SSE เพื่อร้องขอให้ MCP Server ทำงานให้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110037"/>
            <a:ext cx="2302668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5C6C7"/>
                </a:solidFill>
                <a:latin typeface="Space Grotesk"/>
              </a:rPr>
              <a:t>IT Hardening:</a:t>
            </a:r>
            <a:r>
              <a:rPr b="0" sz="1500" i="0" u="none">
                <a:solidFill>
                  <a:srgbClr val="C5C6C7"/>
                </a:solidFill>
                <a:latin typeface="Space Grotesk Light"/>
              </a:rPr>
              <a:t> ตัว AI Model และ Client ไม่จำเป็นต้องถือ API Key, Secret หรือ Password ของ Database ภายในองค์กรเลย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Space Grotesk"/>
              </a:rPr>
              <a:t>3. Host Layer: </a:t>
            </a:r>
            <a:r>
              <a:rPr b="1" sz="3150" i="0" u="none">
                <a:solidFill>
                  <a:srgbClr val="66FCF1"/>
                </a:solidFill>
                <a:latin typeface="Space Grotesk"/>
              </a:rPr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1F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665065"/>
            <a:ext cx="11581447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Space Grotesk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827115"/>
            <a:ext cx="110299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5C6C7"/>
                </a:solidFill>
                <a:latin typeface="Space Grotesk Light"/>
              </a:rPr>
              <a:t>Thank you for attending the Hardening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